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A69FA-C30C-A6D0-913B-A47E6B404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3C0669-E198-DA7B-5F97-B57010319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146107-5C69-DFD8-2ED9-1E5CEAF9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5E3140-E242-C8D6-032B-2E61C83F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B6650-D93F-5824-5BE7-0501687B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37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F46D3-725E-4E34-C3D8-1045D046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493F1E-BB31-CFEA-B37F-0E6294B36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99E017-6D90-F047-2B7C-2E1D445E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E3D5CD-5D7A-D5F8-69E8-F0F3AD65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571FD-0918-0BA6-2441-6415986A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9148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4DDDA-02CD-EA62-C31C-A50C315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EAD23D-1EAD-9D9A-5FC2-6182E41E8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641DF0-C94C-CE67-D0ED-3709F3705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450425-5D29-7803-EA2B-19DB1CF1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33E120-3A27-111E-94AB-A47BDDBB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030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3EAD7-B24D-BFE5-D7FA-BB28A6FC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A22A33-5071-3FD1-9B93-40B6F2C0B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C03F2D-4979-FD5C-AEF7-B6E4C987A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13FB670-E2AA-9C53-AF54-C650EC93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E793D5-CF21-E2B2-BDCF-E2DC664C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5180CE-1B59-AA93-E66A-E1AEA3B0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066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77266-B6E9-F489-9B4C-E55BBD3C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D4CE96-F289-C680-7E9E-3D645CFA2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6B404-0179-754B-FF00-C25C1EBC5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CC32B1-1C7C-DA87-57A2-75EDF006C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266A4B-2946-9329-DB94-42904E148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9B2DD37-E6CD-E195-3822-1E372E64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C918F7B-A6A1-5E58-15FF-34A01C9E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29CD59-F5C1-C545-E8B4-B2B74BE0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8984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9CDB0-692E-A0B2-5BF7-D6981D62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95516E-7EE7-7582-EABB-5B36E930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EFF88B-545A-39D9-6F90-2F138254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6470E4-2793-146A-CABC-D3C75C343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574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6DBC21-50D7-4745-975A-F5D8047C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792DEC-C2A0-9AEB-D1FB-BD653CAE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1897FF-2943-82BA-69D7-260FC982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115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F6F45-E5DB-25B3-B546-6EFBE04F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6B471E-02AD-6B22-EC15-5D4B82FFC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7C82BF-D6E5-3DF0-05BB-5D88858D0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0FEF3E-7055-BB16-889B-FA456DDD9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47F572-17E3-6A53-287D-53DE2C774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BED0D5-F21D-2961-D61B-732AD0C1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792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78116-6002-96BE-70D8-A4674A92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223619-51C4-DA16-056F-C0C049286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A5E7EF-E984-6E7A-253C-C9623F466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EA519C-B5B7-F212-E033-DDC590D2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A86F41-1321-3D0D-9CE4-34FDBA86E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EEEF3A-0069-9AF4-0188-D35857F5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6397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DA5B4-0341-8437-EE6C-D2434B7B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647C22-E6D8-17C0-7B33-A01CAFF2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7D404F-6FA8-DA3D-29C8-B1ABA91F8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76046D-B6B4-5837-9D55-E47B62E9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3238FF-2C27-303B-3819-89FF86C3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95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4E04CB-3A94-AC61-7017-4B6928BEB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5CDBC6-B279-7E04-4406-5CE019DDC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F2C0D5-E3E0-C060-DB15-B12F01A4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F35062-BFEB-D7D3-BE6F-2489E332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26DE-E366-C5B8-6C5B-FF7FAE31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124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9ADA81-F0A6-E6D5-D7A7-43BD9FD4A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57558D-A3AB-91CC-94EA-C20B142C1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8B237B-6E17-6C24-779D-C591B81773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E9B20-0617-4485-8772-ED30FB63A896}" type="datetimeFigureOut">
              <a:rPr lang="es-AR" smtClean="0"/>
              <a:t>8/6/2026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E4B3F2-FC54-024E-C5BB-45F0111F4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E029A-E1B3-03D0-2523-FC6AE2DDD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3E22-1848-46C4-8E6D-6335189A58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111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955EF0-F426-24E9-B7A1-CE1D08782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018" y="14313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073" name="Imagen 1">
            <a:extLst>
              <a:ext uri="{FF2B5EF4-FFF2-40B4-BE49-F238E27FC236}">
                <a16:creationId xmlns:a16="http://schemas.microsoft.com/office/drawing/2014/main" id="{7F1DB30B-5AF2-1CDF-AE91-BAE279EF1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7" y="7374"/>
            <a:ext cx="1987551" cy="214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0B477F-7C51-1E77-8AFB-7969B071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2" y="189131"/>
            <a:ext cx="2133918" cy="143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2352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00338" algn="ctr"/>
                <a:tab pos="5400675" algn="r"/>
              </a:tabLst>
            </a:pPr>
            <a:r>
              <a:rPr kumimoji="0" lang="es-ES" altLang="es-A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kumimoji="0" lang="es-AR" altLang="es-A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00338" algn="ctr"/>
                <a:tab pos="5400675" algn="r"/>
              </a:tabLst>
            </a:pPr>
            <a:r>
              <a:rPr kumimoji="0" lang="es-ES" altLang="es-A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Superior IPET 1308</a:t>
            </a:r>
            <a:endParaRPr kumimoji="0" lang="es-AR" altLang="es-AR" sz="1600" b="1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00338" algn="ctr"/>
                <a:tab pos="5400675" algn="r"/>
              </a:tabLst>
            </a:pPr>
            <a:br>
              <a:rPr kumimoji="0" lang="es-ES" altLang="es-AR" sz="1600" b="0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s-AR" altLang="es-AR" sz="1600" b="0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477714-B9B2-F8B3-9729-F4DADF8E3C84}"/>
              </a:ext>
            </a:extLst>
          </p:cNvPr>
          <p:cNvSpPr txBox="1"/>
          <p:nvPr/>
        </p:nvSpPr>
        <p:spPr>
          <a:xfrm>
            <a:off x="1416844" y="2415272"/>
            <a:ext cx="6586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</a:pPr>
            <a:r>
              <a:rPr lang="es-ES" altLang="es-AR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de Gestión (Taller </a:t>
            </a:r>
            <a:r>
              <a:rPr lang="es-ES" altLang="es-AR" b="1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Mécanico</a:t>
            </a:r>
            <a:r>
              <a:rPr lang="es-ES" altLang="es-AR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	</a:t>
            </a:r>
            <a:endParaRPr lang="es-AR" altLang="es-AR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</a:pPr>
            <a:r>
              <a:rPr lang="es-ES" altLang="es-AR" b="1" dirty="0">
                <a:solidFill>
                  <a:srgbClr val="5A5A5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Alumno: </a:t>
            </a:r>
            <a:r>
              <a:rPr lang="es-ES" altLang="es-AR" b="1" dirty="0" err="1">
                <a:solidFill>
                  <a:srgbClr val="5A5A5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Campra</a:t>
            </a:r>
            <a:r>
              <a:rPr lang="es-ES" altLang="es-AR" b="1" dirty="0">
                <a:solidFill>
                  <a:srgbClr val="5A5A5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Mateo</a:t>
            </a:r>
            <a:endParaRPr lang="es-AR" alt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838237-E51B-9B99-5799-A6447204E283}"/>
              </a:ext>
            </a:extLst>
          </p:cNvPr>
          <p:cNvSpPr txBox="1"/>
          <p:nvPr/>
        </p:nvSpPr>
        <p:spPr>
          <a:xfrm>
            <a:off x="1269206" y="3657788"/>
            <a:ext cx="6881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00338" algn="ctr"/>
                <a:tab pos="5400675" algn="r"/>
              </a:tabLst>
            </a:pPr>
            <a:r>
              <a:rPr kumimoji="0" lang="es-ES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Carrera: Analista en Sistemas</a:t>
            </a:r>
            <a:endParaRPr kumimoji="0" lang="es-AR" altLang="es-AR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00338" algn="ctr"/>
                <a:tab pos="5400675" algn="r"/>
              </a:tabLst>
            </a:pPr>
            <a:r>
              <a:rPr kumimoji="0" lang="es-ES" altLang="es-A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Curso: 2do Año</a:t>
            </a:r>
            <a:endParaRPr kumimoji="0" lang="es-ES" altLang="es-A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072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6D32FF5-39FD-38D6-DA6B-70A275CD753C}"/>
              </a:ext>
            </a:extLst>
          </p:cNvPr>
          <p:cNvSpPr txBox="1"/>
          <p:nvPr/>
        </p:nvSpPr>
        <p:spPr>
          <a:xfrm>
            <a:off x="533400" y="381000"/>
            <a:ext cx="10429875" cy="11090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Índice</a:t>
            </a:r>
            <a:endParaRPr lang="es-A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5.1 Introducción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5.2 Descripción General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5.3 Justificación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5.4 Objetivos Generales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5.5 Objetivos Específicos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5.6 Límites del Sistema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5.7 Requerimientos del Sistema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5.8 Casos de uso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5.9 Estudio de Factibilidad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5.10 Cronograma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4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6.1 Presupuesto</a:t>
            </a:r>
            <a:endParaRPr lang="es-AR" sz="14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76770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1838219-F6DA-56B2-6218-844E349A0FBB}"/>
              </a:ext>
            </a:extLst>
          </p:cNvPr>
          <p:cNvSpPr txBox="1"/>
          <p:nvPr/>
        </p:nvSpPr>
        <p:spPr>
          <a:xfrm>
            <a:off x="381000" y="309562"/>
            <a:ext cx="10677525" cy="6606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6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5.1 Introducción</a:t>
            </a:r>
            <a:endParaRPr lang="es-AR" sz="16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Actualmente hay muchos talleres que se siguen manejando de una forma anticuada, todo anotado en papeles y distribuido en cantidades de carpetas, de esta manera se pierde información y también se pasa por alto otra cantidad. Con este sistema lo que se quiere solucionar es eso, la perdida de información y la gestión del establecimiento; automatizando la mayor parte de la recaudación de información.</a:t>
            </a:r>
            <a:endParaRPr lang="es-E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6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5.2 Descripción General</a:t>
            </a:r>
            <a:endParaRPr lang="es-AR" sz="16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sistema debe ser capaz de almacenar (en una base de datos) todos los clientes y lo que se le hizo junto con su fecha de visita (entrada y salida en caso de tiempo prolongada) y también el monto a cobrarse por dicho servicio, creando una factura que respalde dicho monto.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6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5.3 Justificación</a:t>
            </a:r>
            <a:endParaRPr lang="es-AR" sz="16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motivo principal por el que se va a realizar este proyecto es para facilitar el día a día en el trabajo de muchas personas, descartando el almacenamiento de información y trabajos en papel, así se tiene una mejor disposición de la misma como también de los trabajos y el stock de repuestos.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6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5.4 Objetivos Generales</a:t>
            </a:r>
            <a:endParaRPr lang="es-AR" sz="16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este trabajo se busca tener mejores accesos a la información del día a día, dejar la anotación en papel y pasar a la anotación digital (dispositivos móviles, computadoras, </a:t>
            </a:r>
            <a:r>
              <a:rPr lang="es-ES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Con esto, la información deja de tener la vulnerabilidad de perderse o de confundirse con la misma.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6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5.5 Objetivos Específicos</a:t>
            </a:r>
            <a:endParaRPr lang="es-AR" sz="16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Administrar turnos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de la información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Capacitación de los Mecánicos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 Facturas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s-ES" sz="16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5.6 Límites del Sistema</a:t>
            </a:r>
            <a:endParaRPr lang="es-AR" sz="16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s-E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sistema va a tener ciertos límites y es que no puede realizarse nada que no esté dentro de los parámetros pedidos por el cliente, también hay que aclarar que deben pedirse cosas posibles (a nivel realización, legalidad y acorde al límite de tiempo)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817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02D9B71-5964-B11B-95D0-294A86FDC334}"/>
              </a:ext>
            </a:extLst>
          </p:cNvPr>
          <p:cNvSpPr txBox="1"/>
          <p:nvPr/>
        </p:nvSpPr>
        <p:spPr>
          <a:xfrm>
            <a:off x="247650" y="171450"/>
            <a:ext cx="11706225" cy="5148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5.7 Requerimientos del Sistema</a:t>
            </a:r>
            <a:endParaRPr lang="es-AR" sz="16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AR" sz="1400" b="1" kern="1400" spc="-5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Requerimientos Funcionales</a:t>
            </a:r>
            <a:endParaRPr lang="es-AR" sz="1400" kern="1400" spc="-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 de Vehículos</a:t>
            </a:r>
            <a:r>
              <a:rPr lang="es-AR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s-A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sistema debe permitir dar de alta vehículos asociados a un cliente, incluyendo marca, modelo, año, número de serie y placas. (CRÍTICO)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de Expediente del Cliente: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Crear y editar perfiles de clientes con datos de contacto y un historial completo de servicios realizados. (CRÍTICO)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Generación de Órdenes de Servicio</a:t>
            </a:r>
            <a:r>
              <a:rPr lang="es-AR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s-AR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Crear documentos digitales que detallen el motivo del ingreso, fallas reportadas y el estado inicial del vehículo. (CRÍTICO)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de Inventario de Refacciones: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 de piezas en existencia, alertas de stock bajo y actualización automática al utilizar una pieza en una reparación. (IMPORTANTE)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Asignación de Mecánicos: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Permitir asignar uno o varios técnicos responsables a una orden de trabajo específica. (IMPORTANTE)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Seguimiento de Estatus:</a:t>
            </a:r>
            <a:r>
              <a:rPr lang="es-A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Actualizar en tiempo real el estado de la reparación (</a:t>
            </a:r>
            <a:r>
              <a:rPr lang="es-AR" sz="1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"En diagnóstico", "Esperando piezas", "En proceso", "Listo para entrega"). (IMPORTANTE)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Cotizaciones y Presupuestos:</a:t>
            </a:r>
            <a:r>
              <a:rPr lang="es-A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 presupuestos detallados (mano de obra + refacciones) para enviar al cliente antes de iniciar el trabajo. (CRÍTICO)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Facturación y Cobro:</a:t>
            </a:r>
            <a:r>
              <a:rPr lang="es-AR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Procesar pagos, emitir facturas legales y registrar diferentes métodos de pago (efectivo, tarjeta, transferencia). (CRÍTICO)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Historial de Mantenimiento: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Consulta rápida de reparaciones pasadas por vehículo para facilitar diagnósticos recurrentes. (IMPORTANTE)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 de Citas:</a:t>
            </a:r>
            <a:r>
              <a:rPr lang="es-A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calendario interactivo para programar recepciones de vehículos y evitar la saturación del taller. (IMPORTANTE)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de Proveedores: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 de proveedores de autopartes, pedidos realizados y cuentas por pagar. (SECUNDARIO)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Reportes Administrativos: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Generación de informes de ingresos mensuales, productividad de los mecánicos y piezas más vendidas. (IMPORTANTE)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Notificaciones Automáticas al Cliente: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El sistema debe enviar alertas automáticas (vía WhatsApp, SMS o correo electrónico) al cliente cuando ocurran eventos clave: confirmación de cita, aprobación de presupuesto requerida, o cuando el vehículo esté listo para entrega. (SECUNDARIO)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412233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CDB0CBB-7084-9C96-F956-023F3F57E823}"/>
              </a:ext>
            </a:extLst>
          </p:cNvPr>
          <p:cNvSpPr txBox="1"/>
          <p:nvPr/>
        </p:nvSpPr>
        <p:spPr>
          <a:xfrm>
            <a:off x="342900" y="956752"/>
            <a:ext cx="11639550" cy="4944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Requerimientos No Funcionales</a:t>
            </a:r>
            <a:endParaRPr lang="es-A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Seguridad y Acceso (Autenticación):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sistema debe implementar un control de acceso basado en roles, asegurando que solo el administrador pueda ver los reportes financieros, mientras que los mecánicos solo vean sus órdenes asignadas. (CRÍTICO)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Disponibilidad y Rendimiento: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sistema debe estar disponible el 99.9% del tiempo durante el horario de operación del taller y las consultas de inventario no deben tardar más de 2 segundos en procesarse. (IMPORTANTE)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Usabilidad (Interfaz Responsiva):</a:t>
            </a:r>
            <a:r>
              <a:rPr lang="es-AR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interfaz debe ser intuitiva y adaptarse a diferentes dispositivos (tabletas o móviles), permitiendo que los mecánicos registren avances directamente desde la zona de trabajo sin necesidad de una computadora de escritorio. (IMPORTANTE)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sz="16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5.8 Casos de uso</a:t>
            </a:r>
            <a:endParaRPr lang="es-AR" sz="1600" b="1" kern="0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s-AR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Actores del Sistema</a:t>
            </a:r>
            <a:endParaRPr lang="es-A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Los actores representan los roles de los usuarios que interactúan directamente con el software:</a:t>
            </a:r>
            <a:endParaRPr lang="es-A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Administrador: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Es el encargado de la supervisión global del taller. Tiene acceso exclusivo a reportes financieros, gestión de proveedores e informes de productividad.</a:t>
            </a:r>
            <a:r>
              <a:rPr lang="es-A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Mecánico / Técnico: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Personal operativo que ejecuta las reparaciones. Utiliza el sistema principalmente desde dispositivos móviles para ver sus órdenes asignadas y registrar los avances en tiempo real.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Recepcionista / Asesor de Servicio: </a:t>
            </a:r>
            <a:r>
              <a:rPr lang="es-AR" sz="12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(Implícito en la operación)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Rol encargado de la atención inicial, agendar citas, dar de alta a los clientes/vehículos, generar las órdenes de servicio y procesar los cobros.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Cliente: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Aunque su interacción principal es pasiva o externa, es el receptor de las notificaciones automáticas (WhatsApp, SMS, correo) y quien aprueba los presupuestos enviados por el sistema. 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93122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7F14E44-6EE0-E86B-1703-454367092F93}"/>
              </a:ext>
            </a:extLst>
          </p:cNvPr>
          <p:cNvSpPr txBox="1"/>
          <p:nvPr/>
        </p:nvSpPr>
        <p:spPr>
          <a:xfrm>
            <a:off x="209550" y="295275"/>
            <a:ext cx="11582400" cy="655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2. Tareas de Valor (Casos de Uso Clave)</a:t>
            </a:r>
            <a:endParaRPr lang="es-A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 </a:t>
            </a:r>
            <a:r>
              <a:rPr lang="es-AR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Estas son las funcionalidades del sistema que optimizan el flujo de trabajo, previenen pérdidas de dinero o mejoran la experiencia del cliente. Se clasifican según el impacto directo que generan:</a:t>
            </a:r>
            <a:endParaRPr lang="es-A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A. Tareas que Aseguran el Flujo de Ingresos (Críticas)</a:t>
            </a:r>
            <a:endParaRPr lang="es-A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Captura y Control de Ingresos (Órdenes y Expedientes):</a:t>
            </a:r>
            <a:r>
              <a:rPr lang="es-A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Alta de vehículos vinculados a clientes y digitalización del motivo de ingreso con el estado inicial del auto. Esto protege legalmente al taller y formaliza el trabajo.</a:t>
            </a:r>
            <a:r>
              <a:rPr lang="es-A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Cotización Transparente: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Cálculo automático de presupuestos detallando mano de obra y refacciones para la aprobación del cliente antes de iniciar cualquier labor.</a:t>
            </a:r>
            <a:r>
              <a:rPr lang="es-A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Cierre de Venta: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Procesamiento </a:t>
            </a:r>
            <a:r>
              <a:rPr lang="es-AR" sz="12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multi-método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de pagos (efectivo, tarjeta, transferencia) y emisión automática de facturas legales.</a:t>
            </a:r>
            <a:r>
              <a:rPr lang="es-A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B. Tareas de Optimización Operativa (Importantes)</a:t>
            </a:r>
            <a:endParaRPr lang="es-A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Logística del Taller: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Coordinación de la carga de trabajo mediante una agenda de citas interactiva para evitar la saturación del espacio físico.</a:t>
            </a:r>
            <a:r>
              <a:rPr lang="es-A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Asignación Dinámica de Trabajo: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Delegación formal de responsables para cada orden de trabajo, asegurando la rendición de cuentas.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Control Inteligente de Inventario:</a:t>
            </a:r>
            <a:r>
              <a:rPr lang="es-AR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Monitoreo del stock en tiempo real con alertas automáticas de nivel bajo y descuento automatizado de piezas conforme se usan en las reparaciones. Esto evita detener trabajos por falta de refacciones.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Diagnóstico Veloz: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Acceso inmediato al historial clínico del automóvil para identificar fallas recurrentes de manera más rápida y asertiva.</a:t>
            </a:r>
            <a:r>
              <a:rPr lang="es-A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C. Tareas de Experiencia de Usuario y Control </a:t>
            </a:r>
            <a:endParaRPr lang="es-A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Automatización de la Comunicación: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Envío automático de estatus al cliente (confirmaciones, aprobaciones, aviso de auto listo) sin que el personal tenga que llamarlo manualmente.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Operación Móvil en el Taller</a:t>
            </a:r>
            <a:r>
              <a:rPr lang="es-AR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Registro de avances a pie de auto desde tabletas o celulares por parte de los mecánicos, eliminando el uso de papel o traslados innecesarios a una computadora central.</a:t>
            </a:r>
            <a:r>
              <a:rPr lang="es-A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Auditoría y Análisis de Negocio</a:t>
            </a:r>
            <a:r>
              <a:rPr lang="es-AR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s-AR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A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Generación de métricas de rendimiento por mecánico, ventas de refacciones y reportes financieros para la toma de decisiones gerenciales. </a:t>
            </a:r>
            <a:endParaRPr lang="es-A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0631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8349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1387</Words>
  <Application>Microsoft Office PowerPoint</Application>
  <PresentationFormat>Panorámica</PresentationFormat>
  <Paragraphs>96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Quien Otro</dc:creator>
  <cp:lastModifiedBy>Quien Otro</cp:lastModifiedBy>
  <cp:revision>1</cp:revision>
  <dcterms:created xsi:type="dcterms:W3CDTF">2026-06-08T22:14:25Z</dcterms:created>
  <dcterms:modified xsi:type="dcterms:W3CDTF">2026-06-08T23:03:07Z</dcterms:modified>
</cp:coreProperties>
</file>